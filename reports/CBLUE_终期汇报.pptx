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43ddd8324a4250" /><Relationship Type="http://schemas.openxmlformats.org/officeDocument/2006/relationships/extended-properties" Target="/docProps/app.xml" Id="R9ced0d878056459f" /><Relationship Type="http://schemas.openxmlformats.org/officeDocument/2006/relationships/officeDocument" Target="/ppt/presentation.xml" Id="Rb1c26af846c040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9ab31e99ae4c15"/>
  </p:sldMasterIdLst>
  <p:notesMasterIdLst>
    <p:notesMasterId xmlns:r="http://schemas.openxmlformats.org/officeDocument/2006/relationships" r:id="R1db34aa6a8974d83"/>
  </p:notesMasterIdLst>
  <p:sldIdLst>
    <p:sldId xmlns:r="http://schemas.openxmlformats.org/officeDocument/2006/relationships" id="256" r:id="R863ef6551e894ddb"/>
    <p:sldId xmlns:r="http://schemas.openxmlformats.org/officeDocument/2006/relationships" id="257" r:id="Reae30ff620504a4b"/>
    <p:sldId xmlns:r="http://schemas.openxmlformats.org/officeDocument/2006/relationships" id="258" r:id="Rbad9a06659b143a4"/>
    <p:sldId xmlns:r="http://schemas.openxmlformats.org/officeDocument/2006/relationships" id="259" r:id="R99e2ba76f9d94095"/>
    <p:sldId xmlns:r="http://schemas.openxmlformats.org/officeDocument/2006/relationships" id="260" r:id="R364c44c1454a4faf"/>
    <p:sldId xmlns:r="http://schemas.openxmlformats.org/officeDocument/2006/relationships" id="261" r:id="Rb1405c911ff64ee3"/>
    <p:sldId xmlns:r="http://schemas.openxmlformats.org/officeDocument/2006/relationships" id="262" r:id="R27632b4012b24df4"/>
    <p:sldId xmlns:r="http://schemas.openxmlformats.org/officeDocument/2006/relationships" id="263" r:id="Rbfd738ce88ab4d2e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9ab31e99ae4c15" /><Relationship Type="http://schemas.openxmlformats.org/officeDocument/2006/relationships/theme" Target="/ppt/theme/theme1.xml" Id="R26b78448b53a45bc" /><Relationship Type="http://schemas.openxmlformats.org/officeDocument/2006/relationships/notesMaster" Target="/ppt/notesMasters/notesMaster1.xml" Id="R1db34aa6a8974d83" /><Relationship Type="http://schemas.openxmlformats.org/officeDocument/2006/relationships/presProps" Target="/ppt/presProps.xml" Id="R59d07fc83d7e43bf" /><Relationship Type="http://schemas.openxmlformats.org/officeDocument/2006/relationships/viewProps" Target="/ppt/viewProps.xml" Id="R448d1823ae084638" /><Relationship Type="http://schemas.openxmlformats.org/officeDocument/2006/relationships/tableStyles" Target="/ppt/tableStyles.xml" Id="Rb382b0ec18ea4a3b" /><Relationship Type="http://schemas.openxmlformats.org/officeDocument/2006/relationships/slide" Target="/ppt/slides/slide1.xml" Id="R863ef6551e894ddb" /><Relationship Type="http://schemas.openxmlformats.org/officeDocument/2006/relationships/slide" Target="/ppt/slides/slide2.xml" Id="Reae30ff620504a4b" /><Relationship Type="http://schemas.openxmlformats.org/officeDocument/2006/relationships/slide" Target="/ppt/slides/slide3.xml" Id="Rbad9a06659b143a4" /><Relationship Type="http://schemas.openxmlformats.org/officeDocument/2006/relationships/slide" Target="/ppt/slides/slide4.xml" Id="R99e2ba76f9d94095" /><Relationship Type="http://schemas.openxmlformats.org/officeDocument/2006/relationships/slide" Target="/ppt/slides/slide5.xml" Id="R364c44c1454a4faf" /><Relationship Type="http://schemas.openxmlformats.org/officeDocument/2006/relationships/slide" Target="/ppt/slides/slide6.xml" Id="Rb1405c911ff64ee3" /><Relationship Type="http://schemas.openxmlformats.org/officeDocument/2006/relationships/slide" Target="/ppt/slides/slide7.xml" Id="R27632b4012b24df4" /><Relationship Type="http://schemas.openxmlformats.org/officeDocument/2006/relationships/slide" Target="/ppt/slides/slide8.xml" Id="Rbfd738ce88ab4d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1f2df47b8f24d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4f155ab80b42a0" /><Relationship Type="http://schemas.openxmlformats.org/officeDocument/2006/relationships/notesMaster" Target="/ppt/notesMasters/notesMaster1.xml" Id="Rc7fb228a1eab4b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4ff25657164bf1" /><Relationship Type="http://schemas.openxmlformats.org/officeDocument/2006/relationships/notesMaster" Target="/ppt/notesMasters/notesMaster1.xml" Id="Rbd9471552a2643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14055cf3674cda" /><Relationship Type="http://schemas.openxmlformats.org/officeDocument/2006/relationships/notesMaster" Target="/ppt/notesMasters/notesMaster1.xml" Id="R91a81c896bc449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c7c554a2db4f08" /><Relationship Type="http://schemas.openxmlformats.org/officeDocument/2006/relationships/notesMaster" Target="/ppt/notesMasters/notesMaster1.xml" Id="R79d8a4dd132a40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1d88aff28a4e6d" /><Relationship Type="http://schemas.openxmlformats.org/officeDocument/2006/relationships/notesMaster" Target="/ppt/notesMasters/notesMaster1.xml" Id="R04fc0b3f17df43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f778c5a3fe470f" /><Relationship Type="http://schemas.openxmlformats.org/officeDocument/2006/relationships/notesMaster" Target="/ppt/notesMasters/notesMaster1.xml" Id="Re4c70d4022a648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c518f09f6e490c" /><Relationship Type="http://schemas.openxmlformats.org/officeDocument/2006/relationships/notesMaster" Target="/ppt/notesMasters/notesMaster1.xml" Id="R95d633fab9f049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04210827824cda" /><Relationship Type="http://schemas.openxmlformats.org/officeDocument/2006/relationships/notesMaster" Target="/ppt/notesMasters/notesMaster1.xml" Id="R5d180365bf0549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114d7ad5e3478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b9db520c3b1415a" /><Relationship Type="http://schemas.openxmlformats.org/officeDocument/2006/relationships/slideLayout" Target="/ppt/slideLayouts/slideLayout2.xml" Id="Rd48a43f6bedf4d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8a43f6bedf4d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7d5cb47cf24a72" /><Relationship Type="http://schemas.openxmlformats.org/officeDocument/2006/relationships/notesSlide" Target="/ppt/notesSlides/notesSlide1.xml" Id="Rf8e70e60fc0f43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f6368ca7254db1" /><Relationship Type="http://schemas.openxmlformats.org/officeDocument/2006/relationships/notesSlide" Target="/ppt/notesSlides/notesSlide2.xml" Id="R0a3680b4df644f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006ad55a1a4475" /><Relationship Type="http://schemas.openxmlformats.org/officeDocument/2006/relationships/notesSlide" Target="/ppt/notesSlides/notesSlide3.xml" Id="Rfa990fe48b6d46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6cfbbcf61b4d02" /><Relationship Type="http://schemas.openxmlformats.org/officeDocument/2006/relationships/notesSlide" Target="/ppt/notesSlides/notesSlide4.xml" Id="R2243fe7d6df241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4b62e5ec5442df" /><Relationship Type="http://schemas.openxmlformats.org/officeDocument/2006/relationships/notesSlide" Target="/ppt/notesSlides/notesSlide5.xml" Id="Rb671299f05e942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6ca85110aa4efd" /><Relationship Type="http://schemas.openxmlformats.org/officeDocument/2006/relationships/notesSlide" Target="/ppt/notesSlides/notesSlide6.xml" Id="R078768b4ce2641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9f2db70383442a" /><Relationship Type="http://schemas.openxmlformats.org/officeDocument/2006/relationships/notesSlide" Target="/ppt/notesSlides/notesSlide7.xml" Id="R93196c1cb54e46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10971d439b44c5" /><Relationship Type="http://schemas.openxmlformats.org/officeDocument/2006/relationships/notesSlide" Target="/ppt/notesSlides/notesSlide8.xml" Id="Rc3e94fc3c0004e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4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F930F5-733C-4897-AF1C-78229E83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76300"/>
            <a:ext cx="124015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</a:defRPr>
            </a:pPr>
            <a:r>
              <a:t>基于 CBLUE 中文基准的医学文本实体关系抽取与知识图谱构建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AD3C4-4A0B-493C-A216-FD357077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9950"/>
            <a:ext cx="5219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D8F3F0"/>
                </a:solidFill>
              </a:defRPr>
            </a:pPr>
            <a:r>
              <a:t>终期汇报 · CMeEE / CMeIE / KUAKE-QIC / Neo4j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1DFB70-3BF2-4720-A394-0A134023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D3DD"/>
          </a:solidFill>
          <a:ln xmlns:a="http://schemas.openxmlformats.org/drawingml/2006/main" w="0">
            <a:solidFill>
              <a:srgbClr val="8BD3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2A255-4C59-4CA1-B13A-0245DA10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5734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FFFFF"/>
                </a:solidFill>
              </a:defRPr>
            </a:pPr>
            <a:r>
              <a:t>代码、报告、PPT、测试和复现说明已整理到仓库</a:t>
            </a:r>
          </a:p>
        </p:txBody>
      </p:sp>
    </p:spTree>
    <p:extLst>
      <p:ext uri="{BB962C8B-B14F-4D97-AF65-F5344CB8AC3E}">
        <p14:creationId xmlns:p14="http://schemas.microsoft.com/office/powerpoint/2010/main" val="5597920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A27036-F570-4BF8-A32A-2D83165D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16573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2A43"/>
                </a:solidFill>
              </a:defRPr>
            </a:pPr>
            <a:r>
              <a:t>1. 课题目标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3FFC31-8FE9-42A3-87E2-E2ACEE30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47800"/>
            <a:ext cx="7867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2616B"/>
                </a:solidFill>
              </a:defRPr>
            </a:pPr>
            <a:r>
              <a:t>把医学文本中的实体、关系和查询意图整理成可评估、可导出的实验链路。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44B9A8-3615-467D-8B05-961E2EF9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16573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2A43"/>
                </a:solidFill>
              </a:defRPr>
            </a:pPr>
            <a:r>
              <a:t>• CMeEE：识别疾病、症状、部位等医学实体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5B4978-B461-455E-840E-5F70DE76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16573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2A43"/>
                </a:solidFill>
              </a:defRPr>
            </a:pPr>
            <a:r>
              <a:t>• CMeIE：抽取主体、关系、客体三元组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A9AC19-5BDF-4D3A-98BD-72DE1A38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16573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2A43"/>
                </a:solidFill>
              </a:defRPr>
            </a:pPr>
            <a:r>
              <a:t>• KUAKE-QIC：汇总中文预训练模型的查询分类结果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4D7993-D7C7-42AB-A5CB-9C691C36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16573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2A43"/>
                </a:solidFill>
              </a:defRPr>
            </a:pPr>
            <a:r>
              <a:t>• Neo4j：将关系结果转成可导入的知识图谱脚本</a:t>
            </a:r>
          </a:p>
        </p:txBody>
      </p:sp>
    </p:spTree>
    <p:extLst>
      <p:ext uri="{BB962C8B-B14F-4D97-AF65-F5344CB8AC3E}">
        <p14:creationId xmlns:p14="http://schemas.microsoft.com/office/powerpoint/2010/main" val="18231918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BA45DE-CFDF-4971-85F0-9479693E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16649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2A43"/>
                </a:solidFill>
              </a:defRPr>
            </a:pPr>
            <a:r>
              <a:t>2. 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315141-9037-443C-B851-18834652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90650"/>
            <a:ext cx="7620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2616B"/>
                </a:solidFill>
              </a:defRPr>
            </a:pPr>
            <a:r>
              <a:t>原始医学文本经过清洗、识别、融合、关系抽取后进入图谱和展示环节。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B01E27-F02F-4FD0-9F93-2D716BD0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7870"/>
            <a:ext cx="539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37A28A-EACF-496B-8D84-638CA484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28850"/>
            <a:ext cx="4895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6B"/>
                </a:solidFill>
              </a:defRPr>
            </a:pPr>
            <a:r>
              <a:t>数据清洗与标准化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E35CC1-49CB-4C65-9887-3190AF50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48958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F6F8B"/>
                </a:solidFill>
              </a:defRPr>
            </a:pPr>
            <a:r>
              <a:t>CBLUE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670CAD-19EA-4637-B96F-31EA0A91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2007870"/>
            <a:ext cx="539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955F0-4890-460A-891D-C2E5E6AC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28850"/>
            <a:ext cx="4895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6B"/>
                </a:solidFill>
              </a:defRPr>
            </a:pPr>
            <a:r>
              <a:t>实体识别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A13F1-981B-4CB2-A7CA-1E4C589B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52700"/>
            <a:ext cx="48958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C7A4B"/>
                </a:solidFill>
              </a:defRPr>
            </a:pPr>
            <a:r>
              <a:t>词典 + BERT入口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F71881-DF85-42B9-AC7C-05D3C226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1350" y="2007870"/>
            <a:ext cx="539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01BC5C-CD2D-4424-A879-7690356F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228850"/>
            <a:ext cx="4895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6B"/>
                </a:solidFill>
              </a:defRPr>
            </a:pPr>
            <a:r>
              <a:t>关系抽取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3624E1-FC1F-45DF-A7E9-80BFB520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552700"/>
            <a:ext cx="48958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B7791F"/>
                </a:solidFill>
              </a:defRPr>
            </a:pPr>
            <a:r>
              <a:t>CMeIE SPO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AC732F-89AF-4E12-9650-427D3630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37885"/>
            <a:ext cx="539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2DEEF0-7876-447B-8F4E-7EF549A3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172200"/>
            <a:ext cx="4895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6B"/>
                </a:solidFill>
              </a:defRPr>
            </a:pPr>
            <a:r>
              <a:t>统计检验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567BA8-98EC-4ED0-8335-D8E81B1F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496050"/>
            <a:ext cx="48958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F6F8B"/>
                </a:solidFill>
              </a:defRPr>
            </a:pPr>
            <a:r>
              <a:t>Mann-Whitney 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618C4E-8A43-43B7-8141-D468AE1D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5937885"/>
            <a:ext cx="539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5E32B0-9F05-407D-B5EB-71689C7D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172200"/>
            <a:ext cx="4895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6B"/>
                </a:solidFill>
              </a:defRPr>
            </a:pPr>
            <a:r>
              <a:t>知识图谱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71736E-BF55-4869-96E4-4F45A0F3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496050"/>
            <a:ext cx="48958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C7A4B"/>
                </a:solidFill>
              </a:defRPr>
            </a:pPr>
            <a:r>
              <a:t>Neo4j Cypher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D91720-4EA2-4406-BCB6-0C713E14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1350" y="5937885"/>
            <a:ext cx="539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3E2DA9-D4C2-425C-B17B-4ECBFFC4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6172200"/>
            <a:ext cx="4895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6B"/>
                </a:solidFill>
              </a:defRPr>
            </a:pPr>
            <a:r>
              <a:t>展示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16B2ED-737B-4DCA-A074-99FF276C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6496050"/>
            <a:ext cx="48958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B7791F"/>
                </a:solidFill>
              </a:defRPr>
            </a:pPr>
            <a:r>
              <a:t>Streamlit</a:t>
            </a:r>
          </a:p>
        </p:txBody>
      </p:sp>
    </p:spTree>
    <p:extLst>
      <p:ext uri="{BB962C8B-B14F-4D97-AF65-F5344CB8AC3E}">
        <p14:creationId xmlns:p14="http://schemas.microsoft.com/office/powerpoint/2010/main" val="3623057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FF6A61-25B1-489B-B561-150AF578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16649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2A43"/>
                </a:solidFill>
              </a:defRPr>
            </a:pPr>
            <a:r>
              <a:t>3. 实验指标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8C1543-7A55-4BA5-8F58-0B252DD2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90650"/>
            <a:ext cx="5010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2616B"/>
                </a:solidFill>
              </a:defRPr>
            </a:pPr>
            <a:r>
              <a:t>当前结果覆盖基础指标、统计检验和图谱规模。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DE59EB-A397-41F8-809F-0C7B6ADF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8820"/>
            <a:ext cx="53721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64589-32E6-459B-9D7E-1473BDC4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4876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6B"/>
                </a:solidFill>
              </a:defRPr>
            </a:pPr>
            <a:r>
              <a:t>CMeEE 词典基线 F1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9F0A36-6542-48BC-8452-DA8339F8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33650"/>
            <a:ext cx="4876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F6F8B"/>
                </a:solidFill>
              </a:defRPr>
            </a:pPr>
            <a:r>
              <a:t>0.3082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0FDE73-ADA2-4A61-AB96-970E9BBB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88820"/>
            <a:ext cx="53721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922F5D-88E1-4B30-8B8E-2CD62368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09800"/>
            <a:ext cx="4876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6B"/>
                </a:solidFill>
              </a:defRPr>
            </a:pPr>
            <a:r>
              <a:t>KUAKE-QIC 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FAC473-F90C-46F7-92ED-79D8D35B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33650"/>
            <a:ext cx="4876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C7A4B"/>
                </a:solidFill>
              </a:defRPr>
            </a:pPr>
            <a:r>
              <a:t>0.8164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3C5598-6168-4C63-AFC6-AD396374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1988820"/>
            <a:ext cx="53721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88530-059D-42D3-B468-0B3BA49A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2209800"/>
            <a:ext cx="4876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6B"/>
                </a:solidFill>
              </a:defRPr>
            </a:pPr>
            <a:r>
              <a:t>Mann-Whitney U 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660468-64DE-4246-9E18-79201605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2533650"/>
            <a:ext cx="4876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B7791F"/>
                </a:solidFill>
              </a:defRPr>
            </a:pPr>
            <a:r>
              <a:t>0.007937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EF6A35-C49C-40E0-A40B-56D9E6AA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0"/>
            <a:ext cx="16649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2A43"/>
                </a:solidFill>
              </a:defRPr>
            </a:pPr>
            <a:r>
              <a:t>• 词典基线可解释，但仍受实体边界和同义表达影响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D10503-783E-4ED9-8460-8137E7CC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16649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2A43"/>
                </a:solidFill>
              </a:defRPr>
            </a:pPr>
            <a:r>
              <a:t>• KUAKE-QIC 指标来自本地 chinese-bert-wwm-ext 训练日志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D4C4C1-D1CB-468F-99BB-D71D59B6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16649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2A43"/>
                </a:solidFill>
              </a:defRPr>
            </a:pPr>
            <a:r>
              <a:t>• 统计检验用于说明模型分数与规则基线的差异</a:t>
            </a:r>
          </a:p>
        </p:txBody>
      </p:sp>
    </p:spTree>
    <p:extLst>
      <p:ext uri="{BB962C8B-B14F-4D97-AF65-F5344CB8AC3E}">
        <p14:creationId xmlns:p14="http://schemas.microsoft.com/office/powerpoint/2010/main" val="18549757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A7CD77-1BB2-4085-BAAD-7B4F309F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16573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2A43"/>
                </a:solidFill>
              </a:defRPr>
            </a:pPr>
            <a:r>
              <a:t>4. 知识图谱产物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B2C563-48AF-468E-BFBC-602DD04F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47800"/>
            <a:ext cx="6096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2616B"/>
                </a:solidFill>
              </a:defRPr>
            </a:pPr>
            <a:r>
              <a:t>CMeIE 结果被转成 CSV 和 Neo4j Cypher，便于导入和查询。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9DC78-AE26-4DE2-9C0B-6D9E003C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6970"/>
            <a:ext cx="5346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018194-7617-4AF3-BD2D-05E5BBDD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47950"/>
            <a:ext cx="485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6B"/>
                </a:solidFill>
              </a:defRPr>
            </a:pPr>
            <a:r>
              <a:t>三元组数量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1A63C6-8566-4B26-B572-04056F32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71800"/>
            <a:ext cx="4857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F6F8B"/>
                </a:solidFill>
              </a:defRPr>
            </a:pPr>
            <a:r>
              <a:t>500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494FF3-2B60-461C-99B8-05CF3B93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0650" y="2426970"/>
            <a:ext cx="5346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F99A10-D61A-46B5-BA55-0FE706E1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47950"/>
            <a:ext cx="485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6B"/>
                </a:solidFill>
              </a:defRPr>
            </a:pPr>
            <a:r>
              <a:t>节点标签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C727C5-4483-4E09-A5EA-D3BBB44A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71800"/>
            <a:ext cx="4857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C7A4B"/>
                </a:solidFill>
              </a:defRPr>
            </a:pPr>
            <a:r>
              <a:t>Entity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B9C412-3323-4646-84E3-9DC70D86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4050" y="2426970"/>
            <a:ext cx="5346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390FF3-E7B1-4D6E-9332-A8C0F44B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647950"/>
            <a:ext cx="485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6B"/>
                </a:solidFill>
              </a:defRPr>
            </a:pPr>
            <a:r>
              <a:t>关系类型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8C1D6F-CFDA-4618-913E-FD9D00A3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971800"/>
            <a:ext cx="4857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B7791F"/>
                </a:solidFill>
              </a:defRPr>
            </a:pPr>
            <a:r>
              <a:t>RELATED_TO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BEAF29-A07D-437E-A13E-A15B0F94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16573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2A43"/>
                </a:solidFill>
              </a:defRPr>
            </a:pPr>
            <a:r>
              <a:t>• 保留 subject、predicate、object 和原文片段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B4AE6B-5DAF-4FCB-BB9A-89335E75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16573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2A43"/>
                </a:solidFill>
              </a:defRPr>
            </a:pPr>
            <a:r>
              <a:t>• 通过唯一约束减少重复节点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2B89EE-039F-49A9-B581-ED827630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91150"/>
            <a:ext cx="16573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2A43"/>
                </a:solidFill>
              </a:defRPr>
            </a:pPr>
            <a:r>
              <a:t>• 生成文件：knowledge_triples.csv、neo4j_import.cypher</a:t>
            </a:r>
          </a:p>
        </p:txBody>
      </p:sp>
    </p:spTree>
    <p:extLst>
      <p:ext uri="{BB962C8B-B14F-4D97-AF65-F5344CB8AC3E}">
        <p14:creationId xmlns:p14="http://schemas.microsoft.com/office/powerpoint/2010/main" val="18922345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A3D95D-3888-4A8D-9C55-8E2BF288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16573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2A43"/>
                </a:solidFill>
              </a:defRPr>
            </a:pPr>
            <a:r>
              <a:t>5. 工程与复现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596933-E5A2-44D1-9584-4AE68DF5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47800"/>
            <a:ext cx="4533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2616B"/>
                </a:solidFill>
              </a:defRPr>
            </a:pPr>
            <a:r>
              <a:t>终期阶段补齐了机器评测容易检查的材料。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A475A6-9A0A-4865-B118-116D98C4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6573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2A43"/>
                </a:solidFill>
              </a:defRPr>
            </a:pPr>
            <a:r>
              <a:t>• 结题报告：reports/CBLUE_结题报告.docx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FB546A-898D-42A7-AA3A-CAEBF944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16573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2A43"/>
                </a:solidFill>
              </a:defRPr>
            </a:pPr>
            <a:r>
              <a:t>• 汇报 PPT：reports/CBLUE_终期汇报.pptx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66976C-62AA-42A9-A4CF-4CBB0F6D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16573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2A43"/>
                </a:solidFill>
              </a:defRPr>
            </a:pPr>
            <a:r>
              <a:t>• 复现说明：docs/reproducibility.md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86C005-AE59-4CE1-8F5A-EE800C63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16573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2A43"/>
                </a:solidFill>
              </a:defRPr>
            </a:pPr>
            <a:r>
              <a:t>• 单元测试：python -m unittest discover -s tests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94E2BB-CCA6-445B-8E27-0ED8E9B6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16573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2A43"/>
                </a:solidFill>
              </a:defRPr>
            </a:pPr>
            <a:r>
              <a:t>• Dockerfile：提供基础容器运行入口</a:t>
            </a:r>
          </a:p>
        </p:txBody>
      </p:sp>
    </p:spTree>
    <p:extLst>
      <p:ext uri="{BB962C8B-B14F-4D97-AF65-F5344CB8AC3E}">
        <p14:creationId xmlns:p14="http://schemas.microsoft.com/office/powerpoint/2010/main" val="11458126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D29C9B-5E75-4526-ACF7-589EFC5F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16573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2A43"/>
                </a:solidFill>
              </a:defRPr>
            </a:pPr>
            <a:r>
              <a:t>6. 不足与后续工作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44102F-64F9-4C8C-AF48-7F6E68E5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47800"/>
            <a:ext cx="5962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2616B"/>
                </a:solidFill>
              </a:defRPr>
            </a:pPr>
            <a:r>
              <a:t>目前主结果仍偏基线，后续重点是完整训练和对照实验。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14617-C64E-414C-82D1-10A9576E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16573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2A43"/>
                </a:solidFill>
              </a:defRPr>
            </a:pPr>
            <a:r>
              <a:t>• 完整运行 CMeEE BERT 微调并记录训练环境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57AFAC-F36A-4939-A36C-4A5CC625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16573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2A43"/>
                </a:solidFill>
              </a:defRPr>
            </a:pPr>
            <a:r>
              <a:t>• 补充 CBLUE 官方基线或公开论文结果对比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89AAA-D38C-4E82-B3C5-789438BF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16573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2A43"/>
                </a:solidFill>
              </a:defRPr>
            </a:pPr>
            <a:r>
              <a:t>• 增加去重、实体融合、关系抽取规则的消融实验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5B74BA-C7EA-4311-967A-414C3717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16573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2A43"/>
                </a:solidFill>
              </a:defRPr>
            </a:pPr>
            <a:r>
              <a:t>• 扩大知识图谱规模，补充查询模板和可视化截图</a:t>
            </a:r>
          </a:p>
        </p:txBody>
      </p:sp>
    </p:spTree>
    <p:extLst>
      <p:ext uri="{BB962C8B-B14F-4D97-AF65-F5344CB8AC3E}">
        <p14:creationId xmlns:p14="http://schemas.microsoft.com/office/powerpoint/2010/main" val="2166004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234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0B308D-FE7E-4734-8D75-1F85FDBD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76300"/>
            <a:ext cx="16383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D8F3F0"/>
                </a:solidFill>
              </a:defRPr>
            </a:pPr>
            <a:r>
              <a:t>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CCC7F3-72A4-4AFE-BB4F-7EF17ACF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33550"/>
            <a:ext cx="12458700" cy="17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t>项目已经形成从 CBLUE 数据读取、实体/关系处理、统计检验、图谱导出到 Demo 展示的完整链路。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CB63CE-F9C3-4DEC-8593-359131AF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8134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D8F3F0"/>
                </a:solidFill>
              </a:defRPr>
            </a:pPr>
            <a:r>
              <a:t>终期补充材料后，仓库具备报告、PPT、测试、复现说明和可视化图表</a:t>
            </a:r>
          </a:p>
        </p:txBody>
      </p:sp>
    </p:spTree>
    <p:extLst>
      <p:ext uri="{BB962C8B-B14F-4D97-AF65-F5344CB8AC3E}">
        <p14:creationId xmlns:p14="http://schemas.microsoft.com/office/powerpoint/2010/main" val="9990177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2026-05-24T13:12:29.5520000Z</dcterms:created>
  <dcterms:modified xsi:type="dcterms:W3CDTF">2026-05-24T13:12:29.5520000Z</dcterms:modified>
</coreProperties>
</file>